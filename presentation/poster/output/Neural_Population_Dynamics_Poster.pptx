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2468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4297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55F"/>
                </a:solidFill>
              </a:defRPr>
            </a:pPr>
            <a:r>
              <a:t>Neural Population Dynamics from Internal Representations in Learned Obstacle Avoidance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297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E1E1E"/>
                </a:solidFill>
              </a:defRPr>
            </a:pPr>
            <a:r>
              <a:t>Peter Ohue   •   Emily Oby   •   Gunnar Blohm</a:t>
            </a:r>
            <a:br/>
            <a:r>
              <a:t>Centre for Neuroscience Studies, Queen's University</a:t>
            </a:r>
          </a:p>
        </p:txBody>
      </p:sp>
      <p:pic>
        <p:nvPicPr>
          <p:cNvPr id="4" name="Picture 3" descr="queen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0" y="182880"/>
            <a:ext cx="1188720" cy="584096"/>
          </a:xfrm>
          <a:prstGeom prst="rect">
            <a:avLst/>
          </a:prstGeom>
        </p:spPr>
      </p:pic>
      <p:pic>
        <p:nvPicPr>
          <p:cNvPr id="5" name="Picture 4" descr="connected_mi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0" y="182880"/>
            <a:ext cx="1188720" cy="1188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463040"/>
            <a:ext cx="12801600" cy="502920"/>
          </a:xfrm>
          <a:prstGeom prst="round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2801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1E1E1E"/>
                </a:solidFill>
              </a:defRPr>
            </a:pPr>
            <a:r>
              <a:t>Artificial intelligence controllers remain difficult to interpret despite</a:t>
            </a:r>
            <a:br/>
            <a:r>
              <a:t>their success in autonomous navigation.</a:t>
            </a:r>
            <a:br/>
            <a:br/>
            <a:r>
              <a:t>We propose a neuroscience-inspired framework that analyses hidden-layer</a:t>
            </a:r>
            <a:br/>
            <a:r>
              <a:t>activity as neural population recordings.</a:t>
            </a:r>
            <a:br/>
            <a:br/>
            <a:r>
              <a:t>The objective is to understand how internal representations support</a:t>
            </a:r>
            <a:br/>
            <a:r>
              <a:t>adaptive obstacle avoidance under external perturbations.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2801600" cy="502920"/>
          </a:xfrm>
          <a:prstGeom prst="round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Key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2801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1E1E1E"/>
                </a:solidFill>
              </a:defRPr>
            </a:pPr>
            <a:r>
              <a:t>• Neuro-inspired analysis of PPO hidden representations</a:t>
            </a:r>
            <a:br/>
            <a:br/>
            <a:r>
              <a:t>• Low-dimensional neural manifolds</a:t>
            </a:r>
            <a:br/>
            <a:br/>
            <a:r>
              <a:t>• Behavioural robustness under perturbations</a:t>
            </a:r>
            <a:br/>
            <a:br/>
            <a:r>
              <a:t>• Distributed neural encoding</a:t>
            </a:r>
            <a:br/>
            <a:br/>
            <a:r>
              <a:t>• Explainable reinforcement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9326880"/>
            <a:ext cx="12801600" cy="502920"/>
          </a:xfrm>
          <a:prstGeom prst="round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875520"/>
            <a:ext cx="12801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1E1E1E"/>
                </a:solidFill>
              </a:defRPr>
            </a:pPr>
            <a:r>
              <a:t>• PPO controller</a:t>
            </a:r>
            <a:br/>
            <a:br/>
            <a:r>
              <a:t>• Continuous obstacle avoidance</a:t>
            </a:r>
            <a:br/>
            <a:br/>
            <a:r>
              <a:t>• External perturbations</a:t>
            </a:r>
            <a:br/>
            <a:br/>
            <a:r>
              <a:t>• PCA</a:t>
            </a:r>
            <a:br/>
            <a:br/>
            <a:r>
              <a:t>• Neural decoding</a:t>
            </a:r>
            <a:br/>
            <a:br/>
            <a:r>
              <a:t>• Hidden-unit tuning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2070080"/>
            <a:ext cx="11887200" cy="3657600"/>
          </a:xfrm>
          <a:prstGeom prst="rect">
            <a:avLst/>
          </a:prstGeom>
          <a:noFill/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figure1.png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459200"/>
            <a:ext cx="11887200" cy="3657600"/>
          </a:xfrm>
          <a:prstGeom prst="rect">
            <a:avLst/>
          </a:prstGeom>
          <a:noFill/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figure2.png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904720" y="1463040"/>
            <a:ext cx="12801600" cy="502920"/>
          </a:xfrm>
          <a:prstGeom prst="round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0" y="201168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E1E1E"/>
                </a:solidFill>
              </a:defRPr>
            </a:pPr>
            <a:r>
              <a:t>The trained PPO controller exhibited robust adaptive behaviour under</a:t>
            </a:r>
            <a:br/>
            <a:r>
              <a:t>multiple perturbation conditions. Neural analyses revealed structured latent</a:t>
            </a:r>
            <a:br/>
            <a:r>
              <a:t>representations that evolved continuously during obstacle avoidance.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904720" y="3474720"/>
            <a:ext cx="12801600" cy="502920"/>
          </a:xfrm>
          <a:prstGeom prst="round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Behavioural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0" y="402336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E1E1E"/>
                </a:solidFill>
              </a:defRPr>
            </a:pPr>
            <a:r>
              <a:t>Behavioural metrics demonstrated significant effects of perturbation</a:t>
            </a:r>
            <a:br/>
            <a:r>
              <a:t>magnitude on reward, duration, path length, heading deviation and lateral</a:t>
            </a:r>
            <a:br/>
            <a:r>
              <a:t>error (Kruskal-Wallis, p &lt; 0.001). Maximum speed remained invariant.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0" y="5486400"/>
            <a:ext cx="12801600" cy="3657600"/>
          </a:xfrm>
          <a:prstGeom prst="rect">
            <a:avLst/>
          </a:prstGeom>
          <a:noFill/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figure3.png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0" y="923544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E6E6E"/>
                </a:solidFill>
              </a:defRPr>
            </a:pPr>
            <a:r>
              <a:t>Figure 3. Behavioural performance across perturbation conditions.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904720" y="10058400"/>
            <a:ext cx="12801600" cy="502920"/>
          </a:xfrm>
          <a:prstGeom prst="round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Neural Population Dynamics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0" y="10607040"/>
            <a:ext cx="12801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E1E1E"/>
                </a:solidFill>
              </a:defRPr>
            </a:pPr>
            <a:r>
              <a:t>Principal Component Analysis showed that hidden-layer activity evolved</a:t>
            </a:r>
            <a:br/>
            <a:r>
              <a:t>along a structured low-dimensional manifold. Neural trajectories remained</a:t>
            </a:r>
            <a:br/>
            <a:r>
              <a:t>smooth throughout successful goal-directed movement.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0" y="12252960"/>
            <a:ext cx="12801600" cy="3657600"/>
          </a:xfrm>
          <a:prstGeom prst="rect">
            <a:avLst/>
          </a:prstGeom>
          <a:noFill/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figure4.png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4720" y="160020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E6E6E"/>
                </a:solidFill>
              </a:defRPr>
            </a:pPr>
            <a:r>
              <a:t>Figure 4. Low-dimensional neural manifold revealed by PCA.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904720" y="16642080"/>
            <a:ext cx="12801600" cy="502920"/>
          </a:xfrm>
          <a:prstGeom prst="round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Hidden Unit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04720" y="171907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E1E1E"/>
                </a:solidFill>
              </a:defRPr>
            </a:pPr>
            <a:r>
              <a:t>Representative hidden units exhibited diverse tuning relationships with</a:t>
            </a:r>
            <a:br/>
            <a:r>
              <a:t>movement speed, indicating distributed neural encoding rather than</a:t>
            </a:r>
            <a:br/>
            <a:r>
              <a:t>single-unit specialization.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0" y="18470880"/>
            <a:ext cx="12801600" cy="3657600"/>
          </a:xfrm>
          <a:prstGeom prst="rect">
            <a:avLst/>
          </a:prstGeom>
          <a:noFill/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figure5.png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0" y="2212848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E6E6E"/>
                </a:solidFill>
              </a:defRPr>
            </a:pPr>
            <a:r>
              <a:t>Figure 5. Hidden-unit tuning curves.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352240" y="1463040"/>
            <a:ext cx="12801600" cy="502920"/>
          </a:xfrm>
          <a:prstGeom prst="round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Interpretability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352240" y="2011680"/>
            <a:ext cx="12801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E1E1E"/>
                </a:solidFill>
              </a:defRPr>
            </a:pPr>
            <a:r>
              <a:t>Neural population analyses revealed that internal representations</a:t>
            </a:r>
            <a:br/>
            <a:r>
              <a:t>encode behaviourally meaningful information that remains linearly</a:t>
            </a:r>
            <a:br/>
            <a:r>
              <a:t>accessible throughout movement.</a:t>
            </a:r>
            <a:br/>
            <a:br/>
            <a:r>
              <a:t>These findings support a neuroscience-inspired framework for</a:t>
            </a:r>
            <a:br/>
            <a:r>
              <a:t>interpreting reinforcement learning controllers.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352240" y="4754880"/>
            <a:ext cx="12801600" cy="502920"/>
          </a:xfrm>
          <a:prstGeom prst="round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Neural Decoding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52240" y="530352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E1E1E"/>
                </a:solidFill>
              </a:defRPr>
            </a:pPr>
            <a:r>
              <a:t>Linear decoders successfully recovered task-relevant variables from</a:t>
            </a:r>
            <a:br/>
            <a:r>
              <a:t>hidden-layer activity, demonstrating that latent representations preserve</a:t>
            </a:r>
            <a:br/>
            <a:r>
              <a:t>behaviourally meaningful information.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535119" y="6400800"/>
            <a:ext cx="12801600" cy="3657600"/>
          </a:xfrm>
          <a:prstGeom prst="rect">
            <a:avLst/>
          </a:prstGeom>
          <a:noFill/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figure6.png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352240" y="1024128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E6E6E"/>
                </a:solidFill>
              </a:defRPr>
            </a:pPr>
            <a:r>
              <a:t>Figure 6. Linear decoding of task variables.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352240" y="10972800"/>
            <a:ext cx="12801600" cy="502920"/>
          </a:xfrm>
          <a:prstGeom prst="round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Decision Making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52240" y="11521440"/>
            <a:ext cx="12801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E1E1E"/>
                </a:solidFill>
              </a:defRPr>
            </a:pPr>
            <a:r>
              <a:t>The controller selected alternative trajectories according to the</a:t>
            </a:r>
            <a:br/>
            <a:r>
              <a:t>perturbation condition, demonstrating adaptive route selection instead</a:t>
            </a:r>
            <a:br/>
            <a:r>
              <a:t>of stereotyped behaviour.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535119" y="12618720"/>
            <a:ext cx="12801600" cy="3657600"/>
          </a:xfrm>
          <a:prstGeom prst="rect">
            <a:avLst/>
          </a:prstGeom>
          <a:noFill/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figure7.png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52240" y="1627632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E6E6E"/>
                </a:solidFill>
              </a:defRPr>
            </a:pPr>
            <a:r>
              <a:t>Figure 7. Route selection and perturbation statistics.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352240" y="17007840"/>
            <a:ext cx="12801600" cy="502920"/>
          </a:xfrm>
          <a:prstGeom prst="round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Robustness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352240" y="1755648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E1E1E"/>
                </a:solidFill>
              </a:defRPr>
            </a:pPr>
            <a:r>
              <a:t>Behaviour remained stable across most perturbation conditions.</a:t>
            </a:r>
            <a:br/>
            <a:r>
              <a:t>Only the strongest perturbations produced substantial degradation in</a:t>
            </a:r>
            <a:br/>
            <a:r>
              <a:t>performance, indicating graceful failure rather than catastrophic collapse.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19" y="18836640"/>
            <a:ext cx="12801600" cy="3657600"/>
          </a:xfrm>
          <a:prstGeom prst="rect">
            <a:avLst/>
          </a:prstGeom>
          <a:noFill/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figure8.png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352240" y="2249424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E6E6E"/>
                </a:solidFill>
              </a:defRPr>
            </a:pPr>
            <a:r>
              <a:t>Figure 8. Robustness across evaluation episodes.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20574000"/>
            <a:ext cx="12801600" cy="502920"/>
          </a:xfrm>
          <a:prstGeom prst="round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21122640"/>
            <a:ext cx="12801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1E1E"/>
                </a:solidFill>
              </a:defRPr>
            </a:pPr>
            <a:r>
              <a:t>• PPO learned structured low-dimensional neural representations.</a:t>
            </a:r>
            <a:br/>
            <a:br/>
            <a:r>
              <a:t>• Behaviour changed systematically with perturbation magnitude.</a:t>
            </a:r>
            <a:br/>
            <a:br/>
            <a:r>
              <a:t>• Hidden units exhibited distributed tuning properties.</a:t>
            </a:r>
            <a:br/>
            <a:br/>
            <a:r>
              <a:t>• Neural population trajectories evolved smoothly during successful</a:t>
            </a:r>
            <a:br/>
            <a:r>
              <a:t>goal-directed behaviour.</a:t>
            </a:r>
            <a:br/>
            <a:br/>
            <a:r>
              <a:t>• Internal representations remained interpretable using standard</a:t>
            </a:r>
            <a:br/>
            <a:r>
              <a:t>neuroscience analysis techniques.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352240" y="23042880"/>
            <a:ext cx="12801600" cy="502920"/>
          </a:xfrm>
          <a:prstGeom prst="round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Discussion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352240" y="23591520"/>
            <a:ext cx="12801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1E1E"/>
                </a:solidFill>
              </a:defRPr>
            </a:pPr>
            <a:r>
              <a:t>Rather than acting as an opaque controller, the trained PPO policy</a:t>
            </a:r>
            <a:br/>
            <a:r>
              <a:t>developed organized internal representations that resemble several</a:t>
            </a:r>
            <a:br/>
            <a:r>
              <a:t>computational principles reported in biological sensorimotor systems.</a:t>
            </a:r>
            <a:br/>
            <a:br/>
            <a:r>
              <a:t>The findings suggest that neuroscience-inspired analyses can provide</a:t>
            </a:r>
            <a:br/>
            <a:r>
              <a:t>useful insight into how reinforcement learning policies generate</a:t>
            </a:r>
            <a:br/>
            <a:r>
              <a:t>adaptive behaviour.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904720" y="23042880"/>
            <a:ext cx="12801600" cy="502920"/>
          </a:xfrm>
          <a:prstGeom prst="round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904720" y="23591520"/>
            <a:ext cx="128016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1E1E"/>
                </a:solidFill>
              </a:defRPr>
            </a:pPr>
            <a:r>
              <a:t>Hidden-layer activity contained meaningful neural population</a:t>
            </a:r>
            <a:br/>
            <a:r>
              <a:t>structure that explained behavioural adaptation under perturbation.</a:t>
            </a:r>
            <a:br/>
            <a:br/>
            <a:r>
              <a:t>This framework provides a practical approach for improving the</a:t>
            </a:r>
            <a:br/>
            <a:r>
              <a:t>interpretability of reinforcement learning systems operating in</a:t>
            </a:r>
            <a:br/>
            <a:r>
              <a:t>safety-critical environments.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23591520"/>
            <a:ext cx="12801600" cy="502920"/>
          </a:xfrm>
          <a:prstGeom prst="round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24140160"/>
            <a:ext cx="12801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1E1E"/>
                </a:solidFill>
              </a:defRPr>
            </a:pPr>
            <a:r>
              <a:t>• Dynamic environments</a:t>
            </a:r>
            <a:br/>
            <a:br/>
            <a:r>
              <a:t>• Human motor adaptation</a:t>
            </a:r>
            <a:br/>
            <a:br/>
            <a:r>
              <a:t>• Neuroprosthetic control</a:t>
            </a:r>
            <a:br/>
            <a:br/>
            <a:r>
              <a:t>• Stroke rehabilitation</a:t>
            </a:r>
            <a:br/>
            <a:br/>
            <a:r>
              <a:t>• Explainable AI</a:t>
            </a:r>
            <a:br/>
            <a:br/>
            <a:r>
              <a:t>• Brain-inspired robotics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23957280"/>
            <a:ext cx="43891200" cy="731520"/>
          </a:xfrm>
          <a:prstGeom prst="rect">
            <a:avLst/>
          </a:prstGeom>
          <a:solidFill>
            <a:srgbClr val="00355F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24003000"/>
            <a:ext cx="1645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Acknowledgements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24003000"/>
            <a:ext cx="1828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</a:defRPr>
            </a:pPr>
            <a:r>
              <a:t>Connected Minds Program • Canada First Research Excellence Fund (CFREF-2022-00010)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45600" y="240030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</a:defRPr>
            </a:pPr>
            <a:r>
              <a:t>Centre for Neuroscience Studies | Queen's University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0" y="2400300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</a:defRPr>
            </a:pPr>
            <a:r>
              <a:t>peter.ohue@queensu.ca</a:t>
            </a:r>
          </a:p>
        </p:txBody>
      </p:sp>
      <p:pic>
        <p:nvPicPr>
          <p:cNvPr id="55" name="Picture 54" descr="poster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0" y="23682960"/>
            <a:ext cx="685800" cy="685800"/>
          </a:xfrm>
          <a:prstGeom prst="rect">
            <a:avLst/>
          </a:prstGeom>
        </p:spPr>
      </p:pic>
      <p:pic>
        <p:nvPicPr>
          <p:cNvPr id="56" name="Picture 55" descr="queen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0" y="23728680"/>
            <a:ext cx="1097280" cy="539166"/>
          </a:xfrm>
          <a:prstGeom prst="rect">
            <a:avLst/>
          </a:prstGeom>
        </p:spPr>
      </p:pic>
      <p:pic>
        <p:nvPicPr>
          <p:cNvPr id="57" name="Picture 56" descr="connected_mi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0" y="237286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